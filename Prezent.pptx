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2.jpg" ContentType="image/jpg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89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6385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A8C5"/>
                </a:solidFill>
              </a:rPr>
              <a:t>Слайд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543800" y="6638544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A8C5"/>
                </a:solidFill>
              </a:rPr>
              <a:t>Anti‑Lego Arena · тестирование функционала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915400" y="182880"/>
            <a:ext cx="2743200" cy="2743200"/>
          </a:xfrm>
          <a:prstGeom prst="arc">
            <a:avLst/>
          </a:prstGeom>
          <a:solidFill>
            <a:srgbClr val="071B2F">
              <a:alpha val="0"/>
            </a:srgbClr>
          </a:solidFill>
          <a:ln w="25400">
            <a:solidFill>
              <a:srgbClr val="3DE0C2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85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1C9E2"/>
                </a:solidFill>
              </a:rPr>
              <a:t>ANTI‑LEGO ARENA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097280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4F8FF"/>
                </a:solidFill>
              </a:rPr>
              <a:t>Тестирование игры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4F8FF"/>
                </a:solidFill>
              </a:rPr>
              <a:t>и показ функционала</a:t>
            </a:r>
            <a:endParaRPr lang="en-US" sz="4300" dirty="0"/>
          </a:p>
        </p:txBody>
      </p:sp>
      <p:sp>
        <p:nvSpPr>
          <p:cNvPr id="11" name="Text 9"/>
          <p:cNvSpPr/>
          <p:nvPr/>
        </p:nvSpPr>
        <p:spPr>
          <a:xfrm>
            <a:off x="685800" y="263347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8C9DA"/>
                </a:solidFill>
              </a:rPr>
              <a:t>Сценарий использования, проверка игрового процесса, фрагменты кода, скриншоты и заключение.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675888"/>
            <a:ext cx="1143000" cy="320040"/>
          </a:xfrm>
          <a:prstGeom prst="rect">
            <a:avLst/>
          </a:prstGeom>
          <a:solidFill>
            <a:srgbClr val="5B8CFF"/>
          </a:solidFill>
          <a:ln>
            <a:solidFill>
              <a:srgbClr val="5B8C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65960" y="3675888"/>
            <a:ext cx="1234440" cy="320040"/>
          </a:xfrm>
          <a:prstGeom prst="rect">
            <a:avLst/>
          </a:prstGeom>
          <a:solidFill>
            <a:srgbClr val="3DE0C2"/>
          </a:solidFill>
          <a:ln>
            <a:solidFill>
              <a:srgbClr val="3DE0C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Tkinter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3675888"/>
            <a:ext cx="1417320" cy="320040"/>
          </a:xfrm>
          <a:prstGeom prst="rect">
            <a:avLst/>
          </a:prstGeom>
          <a:solidFill>
            <a:srgbClr val="FFB86B"/>
          </a:solidFill>
          <a:ln>
            <a:solidFill>
              <a:srgbClr val="FFB8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6×6 поле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3675888"/>
            <a:ext cx="1234440" cy="3200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 игрока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3749040"/>
            <a:ext cx="4389120" cy="1847088"/>
          </a:xfrm>
          <a:prstGeom prst="roundRect">
            <a:avLst>
              <a:gd name="adj" fmla="val 5941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3767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C9DA"/>
                </a:solidFill>
              </a:rPr>
              <a:t>Выполнили: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413308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Артименко Артём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Акбар Ислам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Косарев Антон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5074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8C9DA"/>
                </a:solidFill>
              </a:rPr>
              <a:t>Направление: Программная инженерия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9DA"/>
                </a:solidFill>
              </a:rPr>
              <a:t>Преподаватель: Горбачева Зоя Евгеньевна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1C9E2"/>
                </a:solidFill>
              </a:rPr>
              <a:t>Презентация по игре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1264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8FF"/>
                </a:solidFill>
              </a:rPr>
              <a:t>Идея проекта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3970">
            <a:solidFill>
              <a:srgbClr val="2C55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6385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A8C5"/>
                </a:solidFill>
              </a:rPr>
              <a:t>Слайд 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43800" y="6638544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A8C5"/>
                </a:solidFill>
              </a:rPr>
              <a:t>Anti‑Lego Arena · тестирование функционала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4983480" cy="4297680"/>
          </a:xfrm>
          <a:prstGeom prst="roundRect">
            <a:avLst>
              <a:gd name="adj" fmla="val 2553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9019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4F8FF"/>
                </a:solidFill>
              </a:rPr>
              <a:t>Anti‑Lego Arena — простая пошаговая игра на поле 6×6.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87552" y="2852928"/>
            <a:ext cx="100584" cy="100584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7614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Игроки A и B начинают с 100 HP.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87552" y="3310128"/>
            <a:ext cx="100584" cy="100584"/>
          </a:xfrm>
          <a:prstGeom prst="ellipse">
            <a:avLst/>
          </a:prstGeom>
          <a:solidFill>
            <a:srgbClr val="3DE0C2"/>
          </a:solidFill>
          <a:ln w="12700">
            <a:solidFill>
              <a:srgbClr val="3DE0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2186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Игроки ходят по очереди.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87552" y="3767328"/>
            <a:ext cx="100584" cy="100584"/>
          </a:xfrm>
          <a:prstGeom prst="ellipse">
            <a:avLst/>
          </a:prstGeom>
          <a:solidFill>
            <a:srgbClr val="3DE0C2"/>
          </a:solidFill>
          <a:ln w="12700">
            <a:solidFill>
              <a:srgbClr val="3DE0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6758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На поле появляются аптечки +20.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87552" y="4224528"/>
            <a:ext cx="100584" cy="1005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1330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При атаке HP противника уменьшается.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87552" y="4681728"/>
            <a:ext cx="100584" cy="1005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5902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Победа наступает, когда HP соперника становится ≤ 0.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95533" y="1581913"/>
            <a:ext cx="3547534" cy="4370831"/>
          </a:xfrm>
          <a:prstGeom prst="roundRect">
            <a:avLst>
              <a:gd name="adj" fmla="val 2484"/>
            </a:avLst>
          </a:prstGeom>
          <a:solidFill>
            <a:srgbClr val="0A2137"/>
          </a:solidFill>
          <a:ln w="12700">
            <a:solidFill>
              <a:srgbClr val="305B7E">
                <a:alpha val="9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72200" y="60258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B8C9DA"/>
                </a:solidFill>
              </a:rPr>
              <a:t>Пример игрового поля: игроки, HP и бонусные клетки.</a:t>
            </a:r>
            <a:endParaRPr lang="en-US" sz="107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D2AC636-33AB-4FA9-838E-CA132E073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347" y="1684012"/>
            <a:ext cx="3347720" cy="41590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1C9E2"/>
                </a:solidFill>
              </a:rPr>
              <a:t>Презентация по игре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1264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8FF"/>
                </a:solidFill>
              </a:rPr>
              <a:t>Основной функционал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3970">
            <a:solidFill>
              <a:srgbClr val="2C55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6385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A8C5"/>
                </a:solidFill>
              </a:rPr>
              <a:t>Слайд 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43800" y="6638544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A8C5"/>
                </a:solidFill>
              </a:rPr>
              <a:t>Anti‑Lego Arena · тестирование функционала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1783080"/>
            <a:ext cx="3154680" cy="1371600"/>
          </a:xfrm>
          <a:prstGeom prst="roundRect">
            <a:avLst>
              <a:gd name="adj" fmla="val 8000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1993392"/>
            <a:ext cx="128016" cy="950976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0025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F"/>
                </a:solidFill>
              </a:rPr>
              <a:t>Игровое поле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70432" y="2468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8C9DA"/>
                </a:solidFill>
              </a:rPr>
              <a:t>кнопки Tkinter образуют сетку 6×6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526280" y="1783080"/>
            <a:ext cx="3154680" cy="1371600"/>
          </a:xfrm>
          <a:prstGeom prst="roundRect">
            <a:avLst>
              <a:gd name="adj" fmla="val 8000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993392"/>
            <a:ext cx="128016" cy="9509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20025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F"/>
                </a:solidFill>
              </a:rPr>
              <a:t>Игроки A и 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65192" y="2468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8C9DA"/>
                </a:solidFill>
              </a:rPr>
              <a:t>отображаются цветом и текущим HP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321040" y="1783080"/>
            <a:ext cx="3154680" cy="1371600"/>
          </a:xfrm>
          <a:prstGeom prst="roundRect">
            <a:avLst>
              <a:gd name="adj" fmla="val 8000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22208" y="1993392"/>
            <a:ext cx="128016" cy="950976"/>
          </a:xfrm>
          <a:prstGeom prst="rect">
            <a:avLst/>
          </a:prstGeom>
          <a:solidFill>
            <a:srgbClr val="DCE8F2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59952" y="20025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F"/>
                </a:solidFill>
              </a:rPr>
              <a:t>Зоны хода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759952" y="2468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8C9DA"/>
                </a:solidFill>
              </a:rPr>
              <a:t>подсвечиваются доступные клетки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3154680" cy="1371600"/>
          </a:xfrm>
          <a:prstGeom prst="roundRect">
            <a:avLst>
              <a:gd name="adj" fmla="val 8000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" y="3959352"/>
            <a:ext cx="128016" cy="950976"/>
          </a:xfrm>
          <a:prstGeom prst="rect">
            <a:avLst/>
          </a:prstGeom>
          <a:solidFill>
            <a:srgbClr val="3DE0C2"/>
          </a:solidFill>
          <a:ln w="12700">
            <a:solidFill>
              <a:srgbClr val="3DE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39684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F"/>
                </a:solidFill>
              </a:rPr>
              <a:t>Аптечки +20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0432" y="44348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8C9DA"/>
                </a:solidFill>
              </a:rPr>
              <a:t>увеличивают HP, но не выше 100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4526280" y="3749040"/>
            <a:ext cx="3154680" cy="1371600"/>
          </a:xfrm>
          <a:prstGeom prst="roundRect">
            <a:avLst>
              <a:gd name="adj" fmla="val 8000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7448" y="3959352"/>
            <a:ext cx="128016" cy="9509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39684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F"/>
                </a:solidFill>
              </a:rPr>
              <a:t>Атака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965192" y="44348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8C9DA"/>
                </a:solidFill>
              </a:rPr>
              <a:t>активная клетка врага подсвечивается желтым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8321040" y="3749040"/>
            <a:ext cx="3154680" cy="1371600"/>
          </a:xfrm>
          <a:prstGeom prst="roundRect">
            <a:avLst>
              <a:gd name="adj" fmla="val 8000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22208" y="3959352"/>
            <a:ext cx="128016" cy="950976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9952" y="39684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F"/>
                </a:solidFill>
              </a:rPr>
              <a:t>Финал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759952" y="44348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8C9DA"/>
                </a:solidFill>
              </a:rPr>
              <a:t>показывается сообщение о победителе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1051560" y="5596128"/>
            <a:ext cx="10104120" cy="621792"/>
          </a:xfrm>
          <a:prstGeom prst="roundRect">
            <a:avLst>
              <a:gd name="adj" fmla="val 17647"/>
            </a:avLst>
          </a:prstGeom>
          <a:solidFill>
            <a:srgbClr val="063D48"/>
          </a:solidFill>
          <a:ln w="12700">
            <a:solidFill>
              <a:srgbClr val="063D48">
                <a:alpha val="9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5779008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B7FFF0"/>
                </a:solidFill>
              </a:rPr>
              <a:t>Тестирование выполнялось по действиям пользователя: запуск → ход → аптечка/атака → проверка HP → завершение игры.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1C9E2"/>
                </a:solidFill>
              </a:rPr>
              <a:t>Презентация по игре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1264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8FF"/>
                </a:solidFill>
              </a:rPr>
              <a:t>Сценарий тестирования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3970">
            <a:solidFill>
              <a:srgbClr val="2C55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6385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A8C5"/>
                </a:solidFill>
              </a:rPr>
              <a:t>Слайд 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43800" y="6638544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A8C5"/>
                </a:solidFill>
              </a:rPr>
              <a:t>Anti‑Lego Arena · тестирование функционала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017520"/>
            <a:ext cx="731520" cy="0"/>
          </a:xfrm>
          <a:prstGeom prst="line">
            <a:avLst/>
          </a:prstGeom>
          <a:noFill/>
          <a:ln w="25400">
            <a:solidFill>
              <a:srgbClr val="2C55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58768" y="3017520"/>
            <a:ext cx="731520" cy="0"/>
          </a:xfrm>
          <a:prstGeom prst="line">
            <a:avLst/>
          </a:prstGeom>
          <a:noFill/>
          <a:ln w="25400">
            <a:solidFill>
              <a:srgbClr val="2C557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97296" y="3017520"/>
            <a:ext cx="731520" cy="0"/>
          </a:xfrm>
          <a:prstGeom prst="line">
            <a:avLst/>
          </a:prstGeom>
          <a:noFill/>
          <a:ln w="25400">
            <a:solidFill>
              <a:srgbClr val="2C557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35824" y="3017520"/>
            <a:ext cx="731520" cy="0"/>
          </a:xfrm>
          <a:prstGeom prst="line">
            <a:avLst/>
          </a:prstGeom>
          <a:noFill/>
          <a:ln w="25400">
            <a:solidFill>
              <a:srgbClr val="2C55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74352" y="3017520"/>
            <a:ext cx="731520" cy="0"/>
          </a:xfrm>
          <a:prstGeom prst="line">
            <a:avLst/>
          </a:prstGeom>
          <a:noFill/>
          <a:ln w="25400">
            <a:solidFill>
              <a:srgbClr val="2C557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2057400"/>
            <a:ext cx="1417320" cy="1874520"/>
          </a:xfrm>
          <a:prstGeom prst="roundRect">
            <a:avLst>
              <a:gd name="adj" fmla="val 7742"/>
            </a:avLst>
          </a:prstGeom>
          <a:solidFill>
            <a:srgbClr val="0B2A46"/>
          </a:solidFill>
          <a:ln w="12700">
            <a:solidFill>
              <a:srgbClr val="386489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DE0C2"/>
                </a:solidFill>
              </a:rPr>
              <a:t>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86384" y="2788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8FF"/>
                </a:solidFill>
              </a:rPr>
              <a:t>Запуск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8096" y="320040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8C9DA"/>
                </a:solidFill>
              </a:rPr>
              <a:t>открыть файл и проверить появление окна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78608" y="2057400"/>
            <a:ext cx="1417320" cy="1874520"/>
          </a:xfrm>
          <a:prstGeom prst="roundRect">
            <a:avLst>
              <a:gd name="adj" fmla="val 7742"/>
            </a:avLst>
          </a:prstGeom>
          <a:solidFill>
            <a:srgbClr val="0B2A46"/>
          </a:solidFill>
          <a:ln w="12700">
            <a:solidFill>
              <a:srgbClr val="386489">
                <a:alpha val="9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DE0C2"/>
                </a:solidFill>
              </a:rPr>
              <a:t>2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724912" y="2788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8FF"/>
                </a:solidFill>
              </a:rPr>
              <a:t>Поле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06624" y="320040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8C9DA"/>
                </a:solidFill>
              </a:rPr>
              <a:t>проверить сетку 6×6, игроков и HP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17136" y="2057400"/>
            <a:ext cx="1417320" cy="1874520"/>
          </a:xfrm>
          <a:prstGeom prst="roundRect">
            <a:avLst>
              <a:gd name="adj" fmla="val 7742"/>
            </a:avLst>
          </a:prstGeom>
          <a:solidFill>
            <a:srgbClr val="0B2A46"/>
          </a:solidFill>
          <a:ln w="12700">
            <a:solidFill>
              <a:srgbClr val="386489">
                <a:alpha val="9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DE0C2"/>
                </a:solidFill>
              </a:rPr>
              <a:t>3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4663440" y="2788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8FF"/>
                </a:solidFill>
              </a:rPr>
              <a:t>Ход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45152" y="320040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8C9DA"/>
                </a:solidFill>
              </a:rPr>
              <a:t>кликнуть по доступной клетке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55664" y="2057400"/>
            <a:ext cx="1417320" cy="1874520"/>
          </a:xfrm>
          <a:prstGeom prst="roundRect">
            <a:avLst>
              <a:gd name="adj" fmla="val 7742"/>
            </a:avLst>
          </a:prstGeom>
          <a:solidFill>
            <a:srgbClr val="0B2A46"/>
          </a:solidFill>
          <a:ln w="12700">
            <a:solidFill>
              <a:srgbClr val="386489">
                <a:alpha val="9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94576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DE0C2"/>
                </a:solidFill>
              </a:rPr>
              <a:t>4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6601968" y="2788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8FF"/>
                </a:solidFill>
              </a:rPr>
              <a:t>Бонус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83680" y="320040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8C9DA"/>
                </a:solidFill>
              </a:rPr>
              <a:t>проверить аптечку +20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94192" y="2057400"/>
            <a:ext cx="1417320" cy="1874520"/>
          </a:xfrm>
          <a:prstGeom prst="roundRect">
            <a:avLst>
              <a:gd name="adj" fmla="val 7742"/>
            </a:avLst>
          </a:prstGeom>
          <a:solidFill>
            <a:srgbClr val="0B2A46"/>
          </a:solidFill>
          <a:ln w="12700">
            <a:solidFill>
              <a:srgbClr val="386489">
                <a:alpha val="9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33104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DE0C2"/>
                </a:solidFill>
              </a:rPr>
              <a:t>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8540496" y="2788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8FF"/>
                </a:solidFill>
              </a:rPr>
              <a:t>Атака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22208" y="320040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8C9DA"/>
                </a:solidFill>
              </a:rPr>
              <a:t>кликнуть по врагу в зоне атаки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332720" y="2057400"/>
            <a:ext cx="1417320" cy="1874520"/>
          </a:xfrm>
          <a:prstGeom prst="roundRect">
            <a:avLst>
              <a:gd name="adj" fmla="val 7742"/>
            </a:avLst>
          </a:prstGeom>
          <a:solidFill>
            <a:srgbClr val="0B2A46"/>
          </a:solidFill>
          <a:ln w="12700">
            <a:solidFill>
              <a:srgbClr val="386489">
                <a:alpha val="9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71632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DE0C2"/>
                </a:solidFill>
              </a:rPr>
              <a:t>6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0479024" y="2788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8FF"/>
                </a:solidFill>
              </a:rPr>
              <a:t>Финал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460736" y="320040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B8C9DA"/>
                </a:solidFill>
              </a:rPr>
              <a:t>довести HP до 0 и проверить сообщение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87552" y="4873752"/>
            <a:ext cx="10149840" cy="685800"/>
          </a:xfrm>
          <a:prstGeom prst="roundRect">
            <a:avLst>
              <a:gd name="adj" fmla="val 16000"/>
            </a:avLst>
          </a:prstGeom>
          <a:solidFill>
            <a:srgbClr val="06172A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98448" y="5084064"/>
            <a:ext cx="9555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4F8FF"/>
                </a:solidFill>
              </a:rPr>
              <a:t>Формат проверки: действие → ожидаемый результат → фактический результат → скриншот.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1C9E2"/>
                </a:solidFill>
              </a:rPr>
              <a:t>Презентация по игре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1264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8FF"/>
                </a:solidFill>
              </a:rPr>
              <a:t>Фрагмент кода: настройки и аптечки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3970">
            <a:solidFill>
              <a:srgbClr val="2C55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6385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A8C5"/>
                </a:solidFill>
              </a:rPr>
              <a:t>Слайд 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43800" y="6638544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A8C5"/>
                </a:solidFill>
              </a:rPr>
              <a:t>Anti‑Lego Arena · тестирование функционала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4663440" cy="1965960"/>
          </a:xfrm>
          <a:prstGeom prst="roundRect">
            <a:avLst>
              <a:gd name="adj" fmla="val 5581"/>
            </a:avLst>
          </a:prstGeom>
          <a:solidFill>
            <a:srgbClr val="06172A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" y="183337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DE0C2"/>
                </a:solidFill>
              </a:rPr>
              <a:t>Начальные параметры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2157985"/>
            <a:ext cx="4206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M = 6, 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 = [100, 100]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MAX_HP = 100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DMG = [10, 20]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= [[0, 0], [N - 1, M - 1]]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HEALS = []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= ["A", "B"]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= 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950208"/>
            <a:ext cx="4663440" cy="1755648"/>
          </a:xfrm>
          <a:prstGeom prst="roundRect">
            <a:avLst>
              <a:gd name="adj" fmla="val 6250"/>
            </a:avLst>
          </a:prstGeom>
          <a:solidFill>
            <a:srgbClr val="06172A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DE0C2"/>
                </a:solidFill>
              </a:rPr>
              <a:t>Создание аптечек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453128"/>
            <a:ext cx="4206240" cy="1115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spawn_heal():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len(HEALS) &lt; 3: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r, c = random.randint(0, N - 1), random.randint(0, M - 1)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[r, c] not in POS and [r, c] not in HEALS: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HEALS.append([r, c])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06440" y="1691640"/>
            <a:ext cx="5394960" cy="4014216"/>
          </a:xfrm>
          <a:prstGeom prst="roundRect">
            <a:avLst>
              <a:gd name="adj" fmla="val 2733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8FF"/>
                </a:solidFill>
              </a:rPr>
              <a:t>Что делает этот блок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08192" y="2697480"/>
            <a:ext cx="100584" cy="100584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606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Задает размер поля 6×6.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08192" y="3172968"/>
            <a:ext cx="100584" cy="1005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0815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Создает HP, урон и стартовые позиции игроков.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108192" y="3648456"/>
            <a:ext cx="100584" cy="100584"/>
          </a:xfrm>
          <a:prstGeom prst="ellipse">
            <a:avLst/>
          </a:prstGeom>
          <a:solidFill>
            <a:srgbClr val="3DE0C2"/>
          </a:solidFill>
          <a:ln w="12700">
            <a:solidFill>
              <a:srgbClr val="3DE0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5570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Хранит аптечки в списке HEALS.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08192" y="4123944"/>
            <a:ext cx="100584" cy="1005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0325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Не позволяет аптечке появиться на игроке или другой аптечке.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108192" y="4919472"/>
            <a:ext cx="4480560" cy="621792"/>
          </a:xfrm>
          <a:prstGeom prst="roundRect">
            <a:avLst>
              <a:gd name="adj" fmla="val 17647"/>
            </a:avLst>
          </a:prstGeom>
          <a:solidFill>
            <a:srgbClr val="063D48"/>
          </a:solidFill>
          <a:ln w="12700">
            <a:solidFill>
              <a:srgbClr val="063D48">
                <a:alpha val="9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5102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B7FFF0"/>
                </a:solidFill>
              </a:rPr>
              <a:t>Проверяемая логика: начальное состояние игры создается корректно.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1C9E2"/>
                </a:solidFill>
              </a:rPr>
              <a:t>Презентация по игре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1264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8FF"/>
                </a:solidFill>
              </a:rPr>
              <a:t>Фрагмент кода: зоны хода и атаки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3970">
            <a:solidFill>
              <a:srgbClr val="2C55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6385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A8C5"/>
                </a:solidFill>
              </a:rPr>
              <a:t>Слайд 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43800" y="6638544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A8C5"/>
                </a:solidFill>
              </a:rPr>
              <a:t>Anti‑Lego Arena · тестирование функционала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" y="1645920"/>
            <a:ext cx="5715000" cy="4434840"/>
          </a:xfrm>
          <a:prstGeom prst="roundRect">
            <a:avLst>
              <a:gd name="adj" fmla="val 2474"/>
            </a:avLst>
          </a:prstGeom>
          <a:solidFill>
            <a:srgbClr val="06172A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81051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DE0C2"/>
                </a:solidFill>
              </a:rPr>
              <a:t>Функция get_zones()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6968" y="2148840"/>
            <a:ext cx="5257800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get_zones(p_idx):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r, c = POS[p_idx]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moves = [(r + i, c + j) for i in [-1, 0, 1]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for j in [-1, 0, 1] if not (i == 0 and j == 0)]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p_idx == 0: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attacks = moves[:]      # A атакует в 8 направлениях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attacks = [(r + 1, c), (r - 1, c),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(r, c + 1), (r, c - 1)]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moves, attacks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1645920"/>
            <a:ext cx="4480560" cy="4434840"/>
          </a:xfrm>
          <a:prstGeom prst="roundRect">
            <a:avLst>
              <a:gd name="adj" fmla="val 2474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19385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8FF"/>
                </a:solidFill>
              </a:rPr>
              <a:t>Проверка по сценарию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022592" y="2706624"/>
            <a:ext cx="100584" cy="100584"/>
          </a:xfrm>
          <a:prstGeom prst="ellipse">
            <a:avLst/>
          </a:prstGeom>
          <a:solidFill>
            <a:srgbClr val="DCE8F2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4F8FF"/>
                </a:solidFill>
              </a:rPr>
              <a:t>Для активного игрока подсвечиваются доступные клетки.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7022592" y="3246120"/>
            <a:ext cx="100584" cy="100584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4F8FF"/>
                </a:solidFill>
              </a:rPr>
              <a:t>Игрок A может атаковать по диагонали и по прямой.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7022592" y="3785616"/>
            <a:ext cx="100584" cy="1005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3694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4F8FF"/>
                </a:solidFill>
              </a:rPr>
              <a:t>Игрок B атакует только по вертикали и горизонтали.</a:t>
            </a:r>
            <a:endParaRPr lang="en-US" sz="1380" dirty="0"/>
          </a:p>
        </p:txBody>
      </p:sp>
      <p:sp>
        <p:nvSpPr>
          <p:cNvPr id="22" name="Shape 20"/>
          <p:cNvSpPr/>
          <p:nvPr/>
        </p:nvSpPr>
        <p:spPr>
          <a:xfrm>
            <a:off x="7022592" y="4325112"/>
            <a:ext cx="100584" cy="1005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4233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4F8FF"/>
                </a:solidFill>
              </a:rPr>
              <a:t>Если враг попал в зону атаки — его клетка становится активной.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7022592" y="5074920"/>
            <a:ext cx="3703320" cy="621792"/>
          </a:xfrm>
          <a:prstGeom prst="roundRect">
            <a:avLst>
              <a:gd name="adj" fmla="val 17647"/>
            </a:avLst>
          </a:prstGeom>
          <a:solidFill>
            <a:srgbClr val="063D48"/>
          </a:solidFill>
          <a:ln w="12700">
            <a:solidFill>
              <a:srgbClr val="063D48">
                <a:alpha val="9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52578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B7FFF0"/>
                </a:solidFill>
              </a:rPr>
              <a:t>Так проверяется соответствие интерфейса игровой логике.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1C9E2"/>
                </a:solidFill>
              </a:rPr>
              <a:t>Презентация по игре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1264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8FF"/>
                </a:solidFill>
              </a:rPr>
              <a:t>Фрагмент кода: действие игрока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3970">
            <a:solidFill>
              <a:srgbClr val="2C55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6385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A8C5"/>
                </a:solidFill>
              </a:rPr>
              <a:t>Слайд 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43800" y="6638544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A8C5"/>
                </a:solidFill>
              </a:rPr>
              <a:t>Anti‑Lego Arena · тестирование функционала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1572768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06172A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DE0C2"/>
                </a:solidFill>
              </a:rPr>
              <a:t>Функция click()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2075688"/>
            <a:ext cx="49377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click(r, c):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 TURN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foe = 1 - TURN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[r, c] == POS[foe]: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HP[foe] -= DMG[TURN]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HP[foe] &lt;= 0: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messagebox.showinfo("Gg Wp",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f"Игрок {NAMES[TURN]} разнёс кабину оппоненту!")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root.destroy()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POS[TURN] = [r, c]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[r, c] in HEALS: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HP[TURN] = min(MAX_HP, HP[TURN] + 20)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HEALS.remove([r, c])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TURN = foe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update_ui()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572768"/>
            <a:ext cx="4754880" cy="4572000"/>
          </a:xfrm>
          <a:prstGeom prst="roundRect">
            <a:avLst>
              <a:gd name="adj" fmla="val 2400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8745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8FF"/>
                </a:solidFill>
              </a:rPr>
              <a:t>Что проверено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720840" y="2633472"/>
            <a:ext cx="100584" cy="1005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2008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4F8FF"/>
                </a:solidFill>
              </a:rPr>
              <a:t>При клике по врагу игрок не перемещается, а наносит урон.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6720840" y="3218688"/>
            <a:ext cx="100584" cy="100584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2008" y="3127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4F8FF"/>
                </a:solidFill>
              </a:rPr>
              <a:t>При клике по пустой клетке игрок меняет позицию.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6720840" y="3803904"/>
            <a:ext cx="100584" cy="100584"/>
          </a:xfrm>
          <a:prstGeom prst="ellipse">
            <a:avLst/>
          </a:prstGeom>
          <a:solidFill>
            <a:srgbClr val="3DE0C2"/>
          </a:solidFill>
          <a:ln w="12700">
            <a:solidFill>
              <a:srgbClr val="3DE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3712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4F8FF"/>
                </a:solidFill>
              </a:rPr>
              <a:t>При клике по аптечке HP увеличивается, аптечка исчезает.</a:t>
            </a:r>
            <a:endParaRPr lang="en-US" sz="1380" dirty="0"/>
          </a:p>
        </p:txBody>
      </p:sp>
      <p:sp>
        <p:nvSpPr>
          <p:cNvPr id="22" name="Shape 20"/>
          <p:cNvSpPr/>
          <p:nvPr/>
        </p:nvSpPr>
        <p:spPr>
          <a:xfrm>
            <a:off x="6720840" y="4389120"/>
            <a:ext cx="100584" cy="100584"/>
          </a:xfrm>
          <a:prstGeom prst="ellipse">
            <a:avLst/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4297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4F8FF"/>
                </a:solidFill>
              </a:rPr>
              <a:t>После каждого действия ход переходит к другому игроку.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6720840" y="4974336"/>
            <a:ext cx="100584" cy="1005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4882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4F8FF"/>
                </a:solidFill>
              </a:rPr>
              <a:t>При HP ≤ 0 появляется окно победы и игра закрывается.</a:t>
            </a:r>
            <a:endParaRPr lang="en-US" sz="13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1C9E2"/>
                </a:solidFill>
              </a:rPr>
              <a:t>Презентация по игре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1264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8FF"/>
                </a:solidFill>
              </a:rPr>
              <a:t>Проверка завершения игры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3970">
            <a:solidFill>
              <a:srgbClr val="2C55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6385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A8C5"/>
                </a:solidFill>
              </a:rPr>
              <a:t>Слайд 9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43800" y="6638544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A8C5"/>
                </a:solidFill>
              </a:rPr>
              <a:t>Anti‑Lego Arena · тестирование функционала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86384" y="1481328"/>
            <a:ext cx="4645152" cy="4690872"/>
          </a:xfrm>
          <a:prstGeom prst="roundRect">
            <a:avLst>
              <a:gd name="adj" fmla="val 2362"/>
            </a:avLst>
          </a:prstGeom>
          <a:solidFill>
            <a:srgbClr val="0A2137"/>
          </a:solidFill>
          <a:ln w="12700">
            <a:solidFill>
              <a:srgbClr val="305B7E">
                <a:alpha val="95000"/>
              </a:srgbClr>
            </a:solidFill>
            <a:prstDash val="solid"/>
          </a:ln>
        </p:spPr>
      </p:sp>
      <p:pic>
        <p:nvPicPr>
          <p:cNvPr id="12" name="Image 0" descr="/mnt/data/rGCbfQi2Nd3L3sVmvBdlOZC-4ujRSOrRNTVUaWIWM23wqLe-4IWs5SblWKM3KA4vUn4-bDv81NZV79rZ 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153" y="1517904"/>
            <a:ext cx="3707614" cy="46177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6245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B8C9DA"/>
                </a:solidFill>
              </a:rPr>
              <a:t>Финал: после атаки отображается сообщение о победителе.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5989320" y="1600200"/>
            <a:ext cx="5074920" cy="4498848"/>
          </a:xfrm>
          <a:prstGeom prst="roundRect">
            <a:avLst>
              <a:gd name="adj" fmla="val 2439"/>
            </a:avLst>
          </a:prstGeom>
          <a:solidFill>
            <a:srgbClr val="09233B"/>
          </a:solidFill>
          <a:ln w="12700">
            <a:solidFill>
              <a:srgbClr val="315B7C">
                <a:alpha val="9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19019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8FF"/>
                </a:solidFill>
              </a:rPr>
              <a:t>Проверенный сценарий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309360" y="2697480"/>
            <a:ext cx="100584" cy="1005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0528" y="2606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Игрок A находится в зоне атаки игрока B.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309360" y="3200400"/>
            <a:ext cx="100584" cy="1005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3108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При клике по противнику HP уменьшается.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309360" y="3703320"/>
            <a:ext cx="100584" cy="100584"/>
          </a:xfrm>
          <a:prstGeom prst="ellipse">
            <a:avLst/>
          </a:prstGeom>
          <a:solidFill>
            <a:srgbClr val="3DE0C2"/>
          </a:solidFill>
          <a:ln w="12700">
            <a:solidFill>
              <a:srgbClr val="3DE0C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0528" y="3611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После снижения HP до критического значения выводится сообщение.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309360" y="4206240"/>
            <a:ext cx="100584" cy="100584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0528" y="4114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4F8FF"/>
                </a:solidFill>
              </a:rPr>
              <a:t>Окно сообщения подтверждает окончание партии.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6309360" y="5102352"/>
            <a:ext cx="4343400" cy="621792"/>
          </a:xfrm>
          <a:prstGeom prst="roundRect">
            <a:avLst>
              <a:gd name="adj" fmla="val 17647"/>
            </a:avLst>
          </a:prstGeom>
          <a:solidFill>
            <a:srgbClr val="063D48"/>
          </a:solidFill>
          <a:ln w="12700">
            <a:solidFill>
              <a:srgbClr val="063D48">
                <a:alpha val="9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37960" y="52852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B7FFF0"/>
                </a:solidFill>
              </a:rPr>
              <a:t>Фактический результат совпал с ожидаемым: финальное событие сработало корректно.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F"/>
          </a:solidFill>
          <a:ln w="12700">
            <a:solidFill>
              <a:srgbClr val="071B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C9E2">
              <a:alpha val="85000"/>
            </a:srgbClr>
          </a:solidFill>
          <a:ln w="12700">
            <a:solidFill>
              <a:srgbClr val="41C9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3DE0C2">
              <a:alpha val="80000"/>
            </a:srgbClr>
          </a:solidFill>
          <a:ln w="12700">
            <a:solidFill>
              <a:srgbClr val="3DE0C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9223A"/>
          </a:solidFill>
          <a:ln w="12700">
            <a:solidFill>
              <a:srgbClr val="092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1C9E2"/>
                </a:solidFill>
              </a:rPr>
              <a:t>Презентация по игре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1264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8FF"/>
                </a:solidFill>
              </a:rPr>
              <a:t>Итоги тестирования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3970">
            <a:solidFill>
              <a:srgbClr val="2C55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63854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A8C5"/>
                </a:solidFill>
              </a:rPr>
              <a:t>Слайд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43800" y="6638544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A8C5"/>
                </a:solidFill>
              </a:rPr>
              <a:t>Anti‑Lego Arena · тестирование функционала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1645920"/>
            <a:ext cx="10561320" cy="0"/>
          </a:xfrm>
          <a:prstGeom prst="line">
            <a:avLst/>
          </a:prstGeom>
          <a:noFill/>
          <a:ln w="12700">
            <a:solidFill>
              <a:srgbClr val="2C55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349240"/>
            <a:ext cx="10561320" cy="0"/>
          </a:xfrm>
          <a:prstGeom prst="line">
            <a:avLst/>
          </a:prstGeom>
          <a:noFill/>
          <a:ln w="12700">
            <a:solidFill>
              <a:srgbClr val="2C55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3DE0C2"/>
                </a:solidFill>
              </a:rPr>
              <a:t>Проверяемая функция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4069080" y="19019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3DE0C2"/>
                </a:solidFill>
              </a:rPr>
              <a:t>Ожидаемый / фактический результат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9555480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3DE0C2"/>
                </a:solidFill>
              </a:rPr>
              <a:t>Статус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1051560" y="2258568"/>
            <a:ext cx="10104120" cy="0"/>
          </a:xfrm>
          <a:prstGeom prst="line">
            <a:avLst/>
          </a:prstGeom>
          <a:noFill/>
          <a:ln w="8890">
            <a:solidFill>
              <a:srgbClr val="2C55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3317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4F8FF"/>
                </a:solidFill>
              </a:rPr>
              <a:t>Запуск окна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4069080" y="233172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B8C9DA"/>
                </a:solidFill>
              </a:rPr>
              <a:t>Окно игры открывается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9555480" y="23317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B7FFF0"/>
                </a:solidFill>
              </a:rPr>
              <a:t>Работает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1051560" y="2651760"/>
            <a:ext cx="10104120" cy="0"/>
          </a:xfrm>
          <a:prstGeom prst="line">
            <a:avLst/>
          </a:prstGeom>
          <a:noFill/>
          <a:ln w="8890">
            <a:solidFill>
              <a:srgbClr val="2C55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27249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4F8FF"/>
                </a:solidFill>
              </a:rPr>
              <a:t>Поле 6×6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4069080" y="27249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B8C9DA"/>
                </a:solidFill>
              </a:rPr>
              <a:t>Клетки отображаются сеткой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9555480" y="27249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B7FFF0"/>
                </a:solidFill>
              </a:rPr>
              <a:t>Работает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1051560" y="3044952"/>
            <a:ext cx="10104120" cy="0"/>
          </a:xfrm>
          <a:prstGeom prst="line">
            <a:avLst/>
          </a:prstGeom>
          <a:noFill/>
          <a:ln w="8890">
            <a:solidFill>
              <a:srgbClr val="2C55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31181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4F8FF"/>
                </a:solidFill>
              </a:rPr>
              <a:t>Игроки и HP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4069080" y="31181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B8C9DA"/>
                </a:solidFill>
              </a:rPr>
              <a:t>A и B видны, HP обновляется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9555480" y="31181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B7FFF0"/>
                </a:solidFill>
              </a:rPr>
              <a:t>Работает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1051560" y="3438144"/>
            <a:ext cx="10104120" cy="0"/>
          </a:xfrm>
          <a:prstGeom prst="line">
            <a:avLst/>
          </a:prstGeom>
          <a:noFill/>
          <a:ln w="8890">
            <a:solidFill>
              <a:srgbClr val="2C55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511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4F8FF"/>
                </a:solidFill>
              </a:rPr>
              <a:t>Ход игрока</a:t>
            </a:r>
            <a:endParaRPr lang="en-US" sz="1160" dirty="0"/>
          </a:p>
        </p:txBody>
      </p:sp>
      <p:sp>
        <p:nvSpPr>
          <p:cNvPr id="30" name="Text 28"/>
          <p:cNvSpPr/>
          <p:nvPr/>
        </p:nvSpPr>
        <p:spPr>
          <a:xfrm>
            <a:off x="4069080" y="35112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B8C9DA"/>
                </a:solidFill>
              </a:rPr>
              <a:t>Доступные клетки активны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9555480" y="35112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B7FFF0"/>
                </a:solidFill>
              </a:rPr>
              <a:t>Работает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1051560" y="3831336"/>
            <a:ext cx="10104120" cy="0"/>
          </a:xfrm>
          <a:prstGeom prst="line">
            <a:avLst/>
          </a:prstGeom>
          <a:noFill/>
          <a:ln w="8890">
            <a:solidFill>
              <a:srgbClr val="2C55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39044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4F8FF"/>
                </a:solidFill>
              </a:rPr>
              <a:t>Аптечка +20</a:t>
            </a:r>
            <a:endParaRPr lang="en-US" sz="1160" dirty="0"/>
          </a:p>
        </p:txBody>
      </p:sp>
      <p:sp>
        <p:nvSpPr>
          <p:cNvPr id="34" name="Text 32"/>
          <p:cNvSpPr/>
          <p:nvPr/>
        </p:nvSpPr>
        <p:spPr>
          <a:xfrm>
            <a:off x="4069080" y="3904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B8C9DA"/>
                </a:solidFill>
              </a:rPr>
              <a:t>HP увеличивается до лимита 100</a:t>
            </a:r>
            <a:endParaRPr lang="en-US" sz="1160" dirty="0"/>
          </a:p>
        </p:txBody>
      </p:sp>
      <p:sp>
        <p:nvSpPr>
          <p:cNvPr id="35" name="Text 33"/>
          <p:cNvSpPr/>
          <p:nvPr/>
        </p:nvSpPr>
        <p:spPr>
          <a:xfrm>
            <a:off x="9555480" y="39044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B7FFF0"/>
                </a:solidFill>
              </a:rPr>
              <a:t>Работает</a:t>
            </a:r>
            <a:endParaRPr lang="en-US" sz="1160" dirty="0"/>
          </a:p>
        </p:txBody>
      </p:sp>
      <p:sp>
        <p:nvSpPr>
          <p:cNvPr id="36" name="Shape 34"/>
          <p:cNvSpPr/>
          <p:nvPr/>
        </p:nvSpPr>
        <p:spPr>
          <a:xfrm>
            <a:off x="1051560" y="4224528"/>
            <a:ext cx="10104120" cy="0"/>
          </a:xfrm>
          <a:prstGeom prst="line">
            <a:avLst/>
          </a:prstGeom>
          <a:noFill/>
          <a:ln w="8890">
            <a:solidFill>
              <a:srgbClr val="2C55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4297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4F8FF"/>
                </a:solidFill>
              </a:rPr>
              <a:t>Атака</a:t>
            </a:r>
            <a:endParaRPr lang="en-US" sz="1160" dirty="0"/>
          </a:p>
        </p:txBody>
      </p:sp>
      <p:sp>
        <p:nvSpPr>
          <p:cNvPr id="38" name="Text 36"/>
          <p:cNvSpPr/>
          <p:nvPr/>
        </p:nvSpPr>
        <p:spPr>
          <a:xfrm>
            <a:off x="4069080" y="42976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B8C9DA"/>
                </a:solidFill>
              </a:rPr>
              <a:t>HP противника уменьшается</a:t>
            </a:r>
            <a:endParaRPr lang="en-US" sz="1160" dirty="0"/>
          </a:p>
        </p:txBody>
      </p:sp>
      <p:sp>
        <p:nvSpPr>
          <p:cNvPr id="39" name="Text 37"/>
          <p:cNvSpPr/>
          <p:nvPr/>
        </p:nvSpPr>
        <p:spPr>
          <a:xfrm>
            <a:off x="9555480" y="42976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B7FFF0"/>
                </a:solidFill>
              </a:rPr>
              <a:t>Работает</a:t>
            </a:r>
            <a:endParaRPr lang="en-US" sz="1160" dirty="0"/>
          </a:p>
        </p:txBody>
      </p:sp>
      <p:sp>
        <p:nvSpPr>
          <p:cNvPr id="40" name="Shape 38"/>
          <p:cNvSpPr/>
          <p:nvPr/>
        </p:nvSpPr>
        <p:spPr>
          <a:xfrm>
            <a:off x="1051560" y="4617720"/>
            <a:ext cx="10104120" cy="0"/>
          </a:xfrm>
          <a:prstGeom prst="line">
            <a:avLst/>
          </a:prstGeom>
          <a:noFill/>
          <a:ln w="8890">
            <a:solidFill>
              <a:srgbClr val="2C557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46908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4F8FF"/>
                </a:solidFill>
              </a:rPr>
              <a:t>Победа</a:t>
            </a:r>
            <a:endParaRPr lang="en-US" sz="1160" dirty="0"/>
          </a:p>
        </p:txBody>
      </p:sp>
      <p:sp>
        <p:nvSpPr>
          <p:cNvPr id="42" name="Text 40"/>
          <p:cNvSpPr/>
          <p:nvPr/>
        </p:nvSpPr>
        <p:spPr>
          <a:xfrm>
            <a:off x="4069080" y="46908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B8C9DA"/>
                </a:solidFill>
              </a:rPr>
              <a:t>Появляется сообщение финала</a:t>
            </a:r>
            <a:endParaRPr lang="en-US" sz="1160" dirty="0"/>
          </a:p>
        </p:txBody>
      </p:sp>
      <p:sp>
        <p:nvSpPr>
          <p:cNvPr id="43" name="Text 41"/>
          <p:cNvSpPr/>
          <p:nvPr/>
        </p:nvSpPr>
        <p:spPr>
          <a:xfrm>
            <a:off x="9555480" y="4690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B7FFF0"/>
                </a:solidFill>
              </a:rPr>
              <a:t>Работает</a:t>
            </a:r>
            <a:endParaRPr lang="en-US" sz="1160" dirty="0"/>
          </a:p>
        </p:txBody>
      </p:sp>
      <p:sp>
        <p:nvSpPr>
          <p:cNvPr id="44" name="Shape 42"/>
          <p:cNvSpPr/>
          <p:nvPr/>
        </p:nvSpPr>
        <p:spPr>
          <a:xfrm>
            <a:off x="1097280" y="5623560"/>
            <a:ext cx="10012680" cy="621792"/>
          </a:xfrm>
          <a:prstGeom prst="roundRect">
            <a:avLst>
              <a:gd name="adj" fmla="val 17647"/>
            </a:avLst>
          </a:prstGeom>
          <a:solidFill>
            <a:srgbClr val="063D48"/>
          </a:solidFill>
          <a:ln w="12700">
            <a:solidFill>
              <a:srgbClr val="063D48">
                <a:alpha val="9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25880" y="5806440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B7FFF0"/>
                </a:solidFill>
              </a:rPr>
              <a:t>Заключение: основной функционал игры реализован и проверен по пользовательскому сценарию. Ошибок, мешающих прохождению партии, не выявлено.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1038</Words>
  <Application>Microsoft Office PowerPoint</Application>
  <PresentationFormat>Широкоэкранный</PresentationFormat>
  <Paragraphs>193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Anti-Lego Arena — тестирование и показ функционала</dc:title>
  <dc:subject>Тестирование игры Anti-Lego Arena</dc:subject>
  <dc:creator>Команда проекта</dc:creator>
  <cp:lastModifiedBy>krutoi anton</cp:lastModifiedBy>
  <cp:revision>3</cp:revision>
  <dcterms:created xsi:type="dcterms:W3CDTF">2026-05-06T16:44:15Z</dcterms:created>
  <dcterms:modified xsi:type="dcterms:W3CDTF">2026-05-06T16:59:34Z</dcterms:modified>
</cp:coreProperties>
</file>