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jpeg" ContentType="image/jpe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jpeg" ContentType="image/jpeg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Для перемещения страницы щёлкните мышью</a:t>
            </a:r>
            <a:endParaRPr b="0" lang="ru-RU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Для правки формата примечаний щёлкните мышью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&lt;верхний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F86E875-F518-42CE-9D42-AC98F0FEF485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BF6475A-C160-4D99-9347-55B606FC5215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4E3042F-A668-4347-9AB3-9223E546BC36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7D7AC6B-1203-4F26-930D-14A595D028B0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9A1A6CB-29EF-40C9-B28A-34E1DB8ECF2E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4B4F27F-D45D-42FF-8C60-90FE0CCAC6F0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9C591BE-52DC-4AA7-A0AC-C080BFF7C457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416D59E-325D-4FFC-AA24-361E958FA215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535FD31-70E0-4EEF-B7BF-90CB160D2A9B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pc="-1" strike="noStrike">
                <a:solidFill>
                  <a:schemeClr val="dk1"/>
                </a:solidFill>
                <a:latin typeface="Arial"/>
              </a:rPr>
              <a:t>Второй уровень структуры</a:t>
            </a:r>
            <a:endParaRPr b="0" lang="ru-RU" sz="24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Третий уровень структуры</a:t>
            </a:r>
            <a:endParaRPr b="0" lang="ru-RU" sz="20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"/>
          <p:cNvSpPr/>
          <p:nvPr/>
        </p:nvSpPr>
        <p:spPr>
          <a:xfrm>
            <a:off x="0" y="0"/>
            <a:ext cx="12191400" cy="145800"/>
          </a:xfrm>
          <a:prstGeom prst="rect">
            <a:avLst/>
          </a:prstGeom>
          <a:solidFill>
            <a:srgbClr val="41c9e2">
              <a:alpha val="85000"/>
            </a:srgbClr>
          </a:solidFill>
          <a:ln w="12700">
            <a:solidFill>
              <a:srgbClr val="41c9e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Shape 2"/>
          <p:cNvSpPr/>
          <p:nvPr/>
        </p:nvSpPr>
        <p:spPr>
          <a:xfrm>
            <a:off x="0" y="146160"/>
            <a:ext cx="12191400" cy="18000"/>
          </a:xfrm>
          <a:prstGeom prst="rect">
            <a:avLst/>
          </a:prstGeom>
          <a:solidFill>
            <a:srgbClr val="3de0c2">
              <a:alpha val="80000"/>
            </a:srgbClr>
          </a:solidFill>
          <a:ln w="12700">
            <a:solidFill>
              <a:srgbClr val="3de0c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Shape 3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09223a"/>
          </a:solidFill>
          <a:ln w="12700">
            <a:solidFill>
              <a:srgbClr val="0922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6"/>
          <p:cNvSpPr/>
          <p:nvPr/>
        </p:nvSpPr>
        <p:spPr>
          <a:xfrm>
            <a:off x="8915400" y="182880"/>
            <a:ext cx="2742840" cy="2742840"/>
          </a:xfrm>
          <a:prstGeom prst="arc">
            <a:avLst>
              <a:gd name="adj1" fmla="val 16200000"/>
              <a:gd name="adj2" fmla="val 0"/>
            </a:avLst>
          </a:prstGeom>
          <a:noFill/>
          <a:ln w="25400">
            <a:solidFill>
              <a:srgbClr val="3de0c2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7"/>
          <p:cNvSpPr/>
          <p:nvPr/>
        </p:nvSpPr>
        <p:spPr>
          <a:xfrm>
            <a:off x="685800" y="685800"/>
            <a:ext cx="5668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41c9e2"/>
                </a:solidFill>
                <a:latin typeface="Arial"/>
              </a:rPr>
              <a:t>ANTI‑LEGO ARENA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8"/>
          <p:cNvSpPr/>
          <p:nvPr/>
        </p:nvSpPr>
        <p:spPr>
          <a:xfrm>
            <a:off x="658440" y="1097280"/>
            <a:ext cx="777204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300" spc="-1" strike="noStrike">
                <a:solidFill>
                  <a:srgbClr val="f4f8ff"/>
                </a:solidFill>
                <a:latin typeface="Arial"/>
              </a:rPr>
              <a:t>Anti-LEGO ARENA</a:t>
            </a:r>
            <a:endParaRPr b="0" lang="ru-RU" sz="4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606600" y="2740320"/>
            <a:ext cx="1142640" cy="319680"/>
          </a:xfrm>
          <a:prstGeom prst="rect">
            <a:avLst/>
          </a:prstGeom>
          <a:solidFill>
            <a:srgbClr val="5b8cff"/>
          </a:solidFill>
          <a:ln w="0">
            <a:solidFill>
              <a:srgbClr val="5b8cff"/>
            </a:solidFill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</a:rPr>
              <a:t>Python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1886760" y="2740320"/>
            <a:ext cx="1234080" cy="319680"/>
          </a:xfrm>
          <a:prstGeom prst="rect">
            <a:avLst/>
          </a:prstGeom>
          <a:solidFill>
            <a:srgbClr val="3de0c2"/>
          </a:solidFill>
          <a:ln w="0">
            <a:solidFill>
              <a:srgbClr val="3de0c2"/>
            </a:solidFill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</a:rPr>
              <a:t>Tkinter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3285720" y="2740320"/>
            <a:ext cx="1416960" cy="319680"/>
          </a:xfrm>
          <a:prstGeom prst="rect">
            <a:avLst/>
          </a:prstGeom>
          <a:solidFill>
            <a:srgbClr val="ffb86b"/>
          </a:solidFill>
          <a:ln w="0">
            <a:solidFill>
              <a:srgbClr val="ffb86b"/>
            </a:solidFill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</a:rPr>
              <a:t>6×6 поле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4885920" y="2740320"/>
            <a:ext cx="1234080" cy="319680"/>
          </a:xfrm>
          <a:prstGeom prst="rect">
            <a:avLst/>
          </a:prstGeom>
          <a:solidFill>
            <a:srgbClr val="ff6b6b"/>
          </a:solidFill>
          <a:ln w="0">
            <a:solidFill>
              <a:srgbClr val="ff6b6b"/>
            </a:solidFill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</a:rPr>
              <a:t>2 игрока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6903720" y="3749040"/>
            <a:ext cx="4388760" cy="1846800"/>
          </a:xfrm>
          <a:prstGeom prst="roundRect">
            <a:avLst>
              <a:gd name="adj" fmla="val 5941"/>
            </a:avLst>
          </a:prstGeom>
          <a:solidFill>
            <a:srgbClr val="09233b"/>
          </a:solidFill>
          <a:ln w="12700">
            <a:solidFill>
              <a:srgbClr val="315b7c">
                <a:alpha val="9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7178040" y="376740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b8c9da"/>
                </a:solidFill>
                <a:latin typeface="Arial"/>
              </a:rPr>
              <a:t>Выполнили:</a:t>
            </a:r>
            <a:endParaRPr b="0" lang="ru-R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7178040" y="4133160"/>
            <a:ext cx="26056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3333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4f8ff"/>
                </a:solidFill>
                <a:latin typeface="Arial"/>
              </a:rPr>
              <a:t>Артименко Артём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4f8ff"/>
                </a:solidFill>
                <a:latin typeface="Arial"/>
              </a:rPr>
              <a:t>Акбар Ислам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4f8ff"/>
                </a:solidFill>
                <a:latin typeface="Arial"/>
              </a:rPr>
              <a:t>Косарев Антон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7178040" y="5074920"/>
            <a:ext cx="384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b8c9da"/>
                </a:solidFill>
                <a:latin typeface="Arial"/>
              </a:rPr>
              <a:t>Направление: Программная инженерия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b8c9da"/>
                </a:solidFill>
                <a:latin typeface="Arial"/>
              </a:rPr>
              <a:t>Преподаватель: Горбачева Зоя Евгеньевна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4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71b2f"/>
          </a:solidFill>
          <a:ln w="12700">
            <a:solidFill>
              <a:srgbClr val="071b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5"/>
          <p:cNvSpPr/>
          <p:nvPr/>
        </p:nvSpPr>
        <p:spPr>
          <a:xfrm>
            <a:off x="0" y="0"/>
            <a:ext cx="12191400" cy="145800"/>
          </a:xfrm>
          <a:prstGeom prst="rect">
            <a:avLst/>
          </a:prstGeom>
          <a:solidFill>
            <a:srgbClr val="41c9e2">
              <a:alpha val="85000"/>
            </a:srgbClr>
          </a:solidFill>
          <a:ln w="12700">
            <a:solidFill>
              <a:srgbClr val="41c9e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Shape 7"/>
          <p:cNvSpPr/>
          <p:nvPr/>
        </p:nvSpPr>
        <p:spPr>
          <a:xfrm>
            <a:off x="0" y="146160"/>
            <a:ext cx="12191400" cy="18000"/>
          </a:xfrm>
          <a:prstGeom prst="rect">
            <a:avLst/>
          </a:prstGeom>
          <a:solidFill>
            <a:srgbClr val="3de0c2">
              <a:alpha val="80000"/>
            </a:srgbClr>
          </a:solidFill>
          <a:ln w="12700">
            <a:solidFill>
              <a:srgbClr val="3de0c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8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09223a"/>
          </a:solidFill>
          <a:ln w="12700">
            <a:solidFill>
              <a:srgbClr val="0922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915400" y="182880"/>
            <a:ext cx="2742840" cy="2742840"/>
          </a:xfrm>
          <a:prstGeom prst="arc">
            <a:avLst>
              <a:gd name="adj1" fmla="val 16200000"/>
              <a:gd name="adj2" fmla="val 0"/>
            </a:avLst>
          </a:prstGeom>
          <a:noFill/>
          <a:ln w="25400">
            <a:solidFill>
              <a:srgbClr val="3de0c2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 3"/>
          <p:cNvSpPr/>
          <p:nvPr/>
        </p:nvSpPr>
        <p:spPr>
          <a:xfrm>
            <a:off x="685800" y="685800"/>
            <a:ext cx="5668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41c9e2"/>
                </a:solidFill>
                <a:latin typeface="Arial"/>
              </a:rPr>
              <a:t>ANTI‑LEGO ARENA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6"/>
          <p:cNvSpPr/>
          <p:nvPr/>
        </p:nvSpPr>
        <p:spPr>
          <a:xfrm>
            <a:off x="658440" y="1097280"/>
            <a:ext cx="777204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300" spc="-1" strike="noStrike">
                <a:solidFill>
                  <a:srgbClr val="f4f8ff"/>
                </a:solidFill>
                <a:latin typeface="Arial"/>
              </a:rPr>
              <a:t>Цели и задачи</a:t>
            </a:r>
            <a:endParaRPr b="0" lang="ru-RU" sz="4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20000" y="2520000"/>
            <a:ext cx="6660000" cy="1800000"/>
          </a:xfrm>
          <a:prstGeom prst="roundRect">
            <a:avLst>
              <a:gd name="adj" fmla="val 5941"/>
            </a:avLst>
          </a:prstGeom>
          <a:solidFill>
            <a:srgbClr val="09233b"/>
          </a:solidFill>
          <a:ln w="12700">
            <a:solidFill>
              <a:srgbClr val="315b7c">
                <a:alpha val="9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47"/>
          <p:cNvSpPr/>
          <p:nvPr/>
        </p:nvSpPr>
        <p:spPr>
          <a:xfrm rot="9000">
            <a:off x="995040" y="2871720"/>
            <a:ext cx="6203520" cy="10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4f8ff"/>
                </a:solidFill>
                <a:latin typeface="Arial"/>
              </a:rPr>
              <a:t>Целью проекта является разработка интересной, развивающей стратегическое мышление игры для школьников.</a:t>
            </a:r>
            <a:endParaRPr b="0" lang="ru-RU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9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71b2f"/>
          </a:solidFill>
          <a:ln w="12700">
            <a:solidFill>
              <a:srgbClr val="071b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Shape 40"/>
          <p:cNvSpPr/>
          <p:nvPr/>
        </p:nvSpPr>
        <p:spPr>
          <a:xfrm>
            <a:off x="0" y="0"/>
            <a:ext cx="12191400" cy="145800"/>
          </a:xfrm>
          <a:prstGeom prst="rect">
            <a:avLst/>
          </a:prstGeom>
          <a:solidFill>
            <a:srgbClr val="41c9e2">
              <a:alpha val="85000"/>
            </a:srgbClr>
          </a:solidFill>
          <a:ln w="12700">
            <a:solidFill>
              <a:srgbClr val="41c9e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41"/>
          <p:cNvSpPr/>
          <p:nvPr/>
        </p:nvSpPr>
        <p:spPr>
          <a:xfrm>
            <a:off x="0" y="146160"/>
            <a:ext cx="12191400" cy="18000"/>
          </a:xfrm>
          <a:prstGeom prst="rect">
            <a:avLst/>
          </a:prstGeom>
          <a:solidFill>
            <a:srgbClr val="3de0c2">
              <a:alpha val="80000"/>
            </a:srgbClr>
          </a:solidFill>
          <a:ln w="12700">
            <a:solidFill>
              <a:srgbClr val="3de0c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Shape 43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09223a"/>
          </a:solidFill>
          <a:ln w="12700">
            <a:solidFill>
              <a:srgbClr val="0922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44"/>
          <p:cNvSpPr/>
          <p:nvPr/>
        </p:nvSpPr>
        <p:spPr>
          <a:xfrm>
            <a:off x="8915400" y="182880"/>
            <a:ext cx="2742840" cy="2742840"/>
          </a:xfrm>
          <a:prstGeom prst="arc">
            <a:avLst>
              <a:gd name="adj1" fmla="val 16200000"/>
              <a:gd name="adj2" fmla="val 0"/>
            </a:avLst>
          </a:prstGeom>
          <a:noFill/>
          <a:ln w="25400">
            <a:solidFill>
              <a:srgbClr val="3de0c2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Text 1"/>
          <p:cNvSpPr/>
          <p:nvPr/>
        </p:nvSpPr>
        <p:spPr>
          <a:xfrm>
            <a:off x="685800" y="685800"/>
            <a:ext cx="5668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41c9e2"/>
                </a:solidFill>
                <a:latin typeface="Arial"/>
              </a:rPr>
              <a:t>ANTI‑LEGO ARENA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 2"/>
          <p:cNvSpPr/>
          <p:nvPr/>
        </p:nvSpPr>
        <p:spPr>
          <a:xfrm>
            <a:off x="658440" y="1097280"/>
            <a:ext cx="777204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300" spc="-1" strike="noStrike">
                <a:solidFill>
                  <a:srgbClr val="f4f8ff"/>
                </a:solidFill>
                <a:latin typeface="Arial"/>
              </a:rPr>
              <a:t>Цели и задачи</a:t>
            </a:r>
            <a:endParaRPr b="0" lang="ru-RU" sz="4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Shape 45"/>
          <p:cNvSpPr/>
          <p:nvPr/>
        </p:nvSpPr>
        <p:spPr>
          <a:xfrm>
            <a:off x="720000" y="2700000"/>
            <a:ext cx="6840000" cy="1846800"/>
          </a:xfrm>
          <a:prstGeom prst="roundRect">
            <a:avLst>
              <a:gd name="adj" fmla="val 5941"/>
            </a:avLst>
          </a:prstGeom>
          <a:solidFill>
            <a:srgbClr val="09233b"/>
          </a:solidFill>
          <a:ln w="12700">
            <a:solidFill>
              <a:srgbClr val="315b7c">
                <a:alpha val="9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 30"/>
          <p:cNvSpPr/>
          <p:nvPr/>
        </p:nvSpPr>
        <p:spPr>
          <a:xfrm>
            <a:off x="994320" y="2978640"/>
            <a:ext cx="7465680" cy="13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3333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4f8ff"/>
                </a:solidFill>
                <a:latin typeface="Arial"/>
              </a:rPr>
              <a:t>1. Сформировать фукнционал приложения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4f8ff"/>
                </a:solidFill>
                <a:latin typeface="Arial"/>
              </a:rPr>
              <a:t>2. Спроектировать удобный интерфейс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4f8ff"/>
                </a:solidFill>
                <a:latin typeface="Arial"/>
              </a:rPr>
              <a:t>3. Разработать функционал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4f8ff"/>
                </a:solidFill>
                <a:latin typeface="Arial"/>
              </a:rPr>
              <a:t>4. Протестировать приложение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4f8ff"/>
                </a:solidFill>
                <a:latin typeface="Arial"/>
              </a:rPr>
              <a:t>5. Поделиться на open-source площадке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12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71b2f"/>
          </a:solidFill>
          <a:ln w="12700">
            <a:solidFill>
              <a:srgbClr val="071b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16"/>
          <p:cNvSpPr/>
          <p:nvPr/>
        </p:nvSpPr>
        <p:spPr>
          <a:xfrm>
            <a:off x="0" y="0"/>
            <a:ext cx="12191400" cy="145800"/>
          </a:xfrm>
          <a:prstGeom prst="rect">
            <a:avLst/>
          </a:prstGeom>
          <a:solidFill>
            <a:srgbClr val="41c9e2">
              <a:alpha val="85000"/>
            </a:srgbClr>
          </a:solidFill>
          <a:ln w="12700">
            <a:solidFill>
              <a:srgbClr val="41c9e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20"/>
          <p:cNvSpPr/>
          <p:nvPr/>
        </p:nvSpPr>
        <p:spPr>
          <a:xfrm>
            <a:off x="0" y="146160"/>
            <a:ext cx="12191400" cy="18000"/>
          </a:xfrm>
          <a:prstGeom prst="rect">
            <a:avLst/>
          </a:prstGeom>
          <a:solidFill>
            <a:srgbClr val="3de0c2">
              <a:alpha val="80000"/>
            </a:srgbClr>
          </a:solidFill>
          <a:ln w="12700">
            <a:solidFill>
              <a:srgbClr val="3de0c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Shape 23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09223a"/>
          </a:solidFill>
          <a:ln w="12700">
            <a:solidFill>
              <a:srgbClr val="0922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Shape 34"/>
          <p:cNvSpPr/>
          <p:nvPr/>
        </p:nvSpPr>
        <p:spPr>
          <a:xfrm>
            <a:off x="8915400" y="182880"/>
            <a:ext cx="2742840" cy="2742840"/>
          </a:xfrm>
          <a:prstGeom prst="arc">
            <a:avLst>
              <a:gd name="adj1" fmla="val 16200000"/>
              <a:gd name="adj2" fmla="val 0"/>
            </a:avLst>
          </a:prstGeom>
          <a:noFill/>
          <a:ln w="25400">
            <a:solidFill>
              <a:srgbClr val="3de0c2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21"/>
          <p:cNvSpPr/>
          <p:nvPr/>
        </p:nvSpPr>
        <p:spPr>
          <a:xfrm>
            <a:off x="685800" y="685800"/>
            <a:ext cx="5668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41c9e2"/>
                </a:solidFill>
                <a:latin typeface="Arial"/>
              </a:rPr>
              <a:t>ANTI‑LEGO ARENA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25"/>
          <p:cNvSpPr/>
          <p:nvPr/>
        </p:nvSpPr>
        <p:spPr>
          <a:xfrm>
            <a:off x="658440" y="1097280"/>
            <a:ext cx="777204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300" spc="-1" strike="noStrike">
                <a:solidFill>
                  <a:srgbClr val="f4f8ff"/>
                </a:solidFill>
                <a:latin typeface="Arial"/>
              </a:rPr>
              <a:t>Актуальность</a:t>
            </a:r>
            <a:endParaRPr b="0" lang="ru-RU" sz="4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Shape 38"/>
          <p:cNvSpPr/>
          <p:nvPr/>
        </p:nvSpPr>
        <p:spPr>
          <a:xfrm>
            <a:off x="759600" y="2700000"/>
            <a:ext cx="7560000" cy="1846800"/>
          </a:xfrm>
          <a:prstGeom prst="roundRect">
            <a:avLst>
              <a:gd name="adj" fmla="val 5941"/>
            </a:avLst>
          </a:prstGeom>
          <a:solidFill>
            <a:srgbClr val="09233b"/>
          </a:solidFill>
          <a:ln w="12700">
            <a:solidFill>
              <a:srgbClr val="315b7c">
                <a:alpha val="9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26"/>
          <p:cNvSpPr/>
          <p:nvPr/>
        </p:nvSpPr>
        <p:spPr>
          <a:xfrm>
            <a:off x="994320" y="2978640"/>
            <a:ext cx="7465680" cy="13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4f8ff"/>
                </a:solidFill>
                <a:latin typeface="Arial"/>
              </a:rPr>
              <a:t>Игра актуальна для школьников, которые ищут основу структуры для своих проектов-игр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71b2f"/>
          </a:solidFill>
          <a:ln w="12700">
            <a:solidFill>
              <a:srgbClr val="071b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Shape 1"/>
          <p:cNvSpPr/>
          <p:nvPr/>
        </p:nvSpPr>
        <p:spPr>
          <a:xfrm>
            <a:off x="0" y="0"/>
            <a:ext cx="12191400" cy="145800"/>
          </a:xfrm>
          <a:prstGeom prst="rect">
            <a:avLst/>
          </a:prstGeom>
          <a:solidFill>
            <a:srgbClr val="41c9e2">
              <a:alpha val="85000"/>
            </a:srgbClr>
          </a:solidFill>
          <a:ln w="12700">
            <a:solidFill>
              <a:srgbClr val="41c9e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Shape 2"/>
          <p:cNvSpPr/>
          <p:nvPr/>
        </p:nvSpPr>
        <p:spPr>
          <a:xfrm>
            <a:off x="0" y="146160"/>
            <a:ext cx="12191400" cy="18000"/>
          </a:xfrm>
          <a:prstGeom prst="rect">
            <a:avLst/>
          </a:prstGeom>
          <a:solidFill>
            <a:srgbClr val="3de0c2">
              <a:alpha val="80000"/>
            </a:srgbClr>
          </a:solidFill>
          <a:ln w="12700">
            <a:solidFill>
              <a:srgbClr val="3de0c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Shape 3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09223a"/>
          </a:solidFill>
          <a:ln w="12700">
            <a:solidFill>
              <a:srgbClr val="0922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5"/>
          <p:cNvSpPr/>
          <p:nvPr/>
        </p:nvSpPr>
        <p:spPr>
          <a:xfrm>
            <a:off x="594360" y="612720"/>
            <a:ext cx="10743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4f8ff"/>
                </a:solidFill>
                <a:latin typeface="Arial"/>
              </a:rPr>
              <a:t>Идея проекта</a:t>
            </a:r>
            <a:endParaRPr b="0" lang="ru-RU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Shape 6"/>
          <p:cNvSpPr/>
          <p:nvPr/>
        </p:nvSpPr>
        <p:spPr>
          <a:xfrm>
            <a:off x="594360" y="1298160"/>
            <a:ext cx="10972800" cy="360"/>
          </a:xfrm>
          <a:prstGeom prst="line">
            <a:avLst/>
          </a:prstGeom>
          <a:ln w="13970">
            <a:solidFill>
              <a:srgbClr val="2c55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Shape 9"/>
          <p:cNvSpPr/>
          <p:nvPr/>
        </p:nvSpPr>
        <p:spPr>
          <a:xfrm>
            <a:off x="685800" y="1645920"/>
            <a:ext cx="4983120" cy="4297320"/>
          </a:xfrm>
          <a:prstGeom prst="roundRect">
            <a:avLst>
              <a:gd name="adj" fmla="val 2553"/>
            </a:avLst>
          </a:prstGeom>
          <a:solidFill>
            <a:srgbClr val="09233b"/>
          </a:solidFill>
          <a:ln w="12700">
            <a:solidFill>
              <a:srgbClr val="315b7c">
                <a:alpha val="9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10"/>
          <p:cNvSpPr/>
          <p:nvPr/>
        </p:nvSpPr>
        <p:spPr>
          <a:xfrm>
            <a:off x="987480" y="1901880"/>
            <a:ext cx="4343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777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4f8ff"/>
                </a:solidFill>
                <a:latin typeface="Arial"/>
              </a:rPr>
              <a:t>Anti‑Lego Arena — простая пошаговая игра на поле 6×6.</a:t>
            </a:r>
            <a:endParaRPr b="0" lang="ru-RU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Shape 11"/>
          <p:cNvSpPr/>
          <p:nvPr/>
        </p:nvSpPr>
        <p:spPr>
          <a:xfrm>
            <a:off x="987480" y="2853000"/>
            <a:ext cx="100080" cy="100080"/>
          </a:xfrm>
          <a:prstGeom prst="ellipse">
            <a:avLst/>
          </a:prstGeom>
          <a:solidFill>
            <a:srgbClr val="5b8cff"/>
          </a:solidFill>
          <a:ln w="12700">
            <a:solidFill>
              <a:srgbClr val="5b8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 12"/>
          <p:cNvSpPr/>
          <p:nvPr/>
        </p:nvSpPr>
        <p:spPr>
          <a:xfrm>
            <a:off x="1188720" y="2761560"/>
            <a:ext cx="4251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f4f8ff"/>
                </a:solidFill>
                <a:latin typeface="Arial"/>
              </a:rPr>
              <a:t>Игроки A и B начинают с 100 HP.</a:t>
            </a:r>
            <a:endParaRPr b="0" lang="ru-RU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Shape 13"/>
          <p:cNvSpPr/>
          <p:nvPr/>
        </p:nvSpPr>
        <p:spPr>
          <a:xfrm>
            <a:off x="987480" y="3310200"/>
            <a:ext cx="100080" cy="100080"/>
          </a:xfrm>
          <a:prstGeom prst="ellipse">
            <a:avLst/>
          </a:prstGeom>
          <a:solidFill>
            <a:srgbClr val="3de0c2"/>
          </a:solidFill>
          <a:ln w="12700">
            <a:solidFill>
              <a:srgbClr val="3de0c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14"/>
          <p:cNvSpPr/>
          <p:nvPr/>
        </p:nvSpPr>
        <p:spPr>
          <a:xfrm>
            <a:off x="1188720" y="3218760"/>
            <a:ext cx="4251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f4f8ff"/>
                </a:solidFill>
                <a:latin typeface="Arial"/>
              </a:rPr>
              <a:t>Игроки ходят по очереди.</a:t>
            </a:r>
            <a:endParaRPr b="0" lang="ru-RU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Shape 15"/>
          <p:cNvSpPr/>
          <p:nvPr/>
        </p:nvSpPr>
        <p:spPr>
          <a:xfrm>
            <a:off x="987480" y="3767400"/>
            <a:ext cx="100080" cy="100080"/>
          </a:xfrm>
          <a:prstGeom prst="ellipse">
            <a:avLst/>
          </a:prstGeom>
          <a:solidFill>
            <a:srgbClr val="3de0c2"/>
          </a:solidFill>
          <a:ln w="12700">
            <a:solidFill>
              <a:srgbClr val="3de0c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16"/>
          <p:cNvSpPr/>
          <p:nvPr/>
        </p:nvSpPr>
        <p:spPr>
          <a:xfrm>
            <a:off x="1188720" y="3675960"/>
            <a:ext cx="4251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f4f8ff"/>
                </a:solidFill>
                <a:latin typeface="Arial"/>
              </a:rPr>
              <a:t>На поле появляются аптечки +20.</a:t>
            </a:r>
            <a:endParaRPr b="0" lang="ru-RU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Shape 17"/>
          <p:cNvSpPr/>
          <p:nvPr/>
        </p:nvSpPr>
        <p:spPr>
          <a:xfrm>
            <a:off x="987480" y="4224600"/>
            <a:ext cx="100080" cy="10008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18"/>
          <p:cNvSpPr/>
          <p:nvPr/>
        </p:nvSpPr>
        <p:spPr>
          <a:xfrm>
            <a:off x="1188720" y="4133160"/>
            <a:ext cx="4251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f4f8ff"/>
                </a:solidFill>
                <a:latin typeface="Arial"/>
              </a:rPr>
              <a:t>При атаке HP противника уменьшается.</a:t>
            </a:r>
            <a:endParaRPr b="0" lang="ru-RU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Shape 19"/>
          <p:cNvSpPr/>
          <p:nvPr/>
        </p:nvSpPr>
        <p:spPr>
          <a:xfrm>
            <a:off x="987480" y="4681800"/>
            <a:ext cx="100080" cy="10008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20"/>
          <p:cNvSpPr/>
          <p:nvPr/>
        </p:nvSpPr>
        <p:spPr>
          <a:xfrm>
            <a:off x="1188720" y="4590360"/>
            <a:ext cx="4251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7222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f4f8ff"/>
                </a:solidFill>
                <a:latin typeface="Arial"/>
              </a:rPr>
              <a:t>Победа наступает, когда HP соперника становится ≤ 0.</a:t>
            </a:r>
            <a:endParaRPr b="0" lang="ru-RU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Shape 21"/>
          <p:cNvSpPr/>
          <p:nvPr/>
        </p:nvSpPr>
        <p:spPr>
          <a:xfrm>
            <a:off x="6595560" y="1581840"/>
            <a:ext cx="3547080" cy="4370400"/>
          </a:xfrm>
          <a:prstGeom prst="roundRect">
            <a:avLst>
              <a:gd name="adj" fmla="val 2484"/>
            </a:avLst>
          </a:prstGeom>
          <a:solidFill>
            <a:srgbClr val="0a2137"/>
          </a:solidFill>
          <a:ln w="12700">
            <a:solidFill>
              <a:srgbClr val="305b7e">
                <a:alpha val="9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8" name="Рисунок 26" descr=""/>
          <p:cNvPicPr/>
          <p:nvPr/>
        </p:nvPicPr>
        <p:blipFill>
          <a:blip r:embed="rId1"/>
          <a:stretch/>
        </p:blipFill>
        <p:spPr>
          <a:xfrm>
            <a:off x="6668280" y="1684080"/>
            <a:ext cx="3347280" cy="4158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71b2f"/>
          </a:solidFill>
          <a:ln w="12700">
            <a:solidFill>
              <a:srgbClr val="071b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Shape 1"/>
          <p:cNvSpPr/>
          <p:nvPr/>
        </p:nvSpPr>
        <p:spPr>
          <a:xfrm>
            <a:off x="0" y="0"/>
            <a:ext cx="12191400" cy="145800"/>
          </a:xfrm>
          <a:prstGeom prst="rect">
            <a:avLst/>
          </a:prstGeom>
          <a:solidFill>
            <a:srgbClr val="41c9e2">
              <a:alpha val="85000"/>
            </a:srgbClr>
          </a:solidFill>
          <a:ln w="12700">
            <a:solidFill>
              <a:srgbClr val="41c9e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2"/>
          <p:cNvSpPr/>
          <p:nvPr/>
        </p:nvSpPr>
        <p:spPr>
          <a:xfrm>
            <a:off x="0" y="146160"/>
            <a:ext cx="12191400" cy="18000"/>
          </a:xfrm>
          <a:prstGeom prst="rect">
            <a:avLst/>
          </a:prstGeom>
          <a:solidFill>
            <a:srgbClr val="3de0c2">
              <a:alpha val="80000"/>
            </a:srgbClr>
          </a:solidFill>
          <a:ln w="12700">
            <a:solidFill>
              <a:srgbClr val="3de0c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3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09223a"/>
          </a:solidFill>
          <a:ln w="12700">
            <a:solidFill>
              <a:srgbClr val="0922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 5"/>
          <p:cNvSpPr/>
          <p:nvPr/>
        </p:nvSpPr>
        <p:spPr>
          <a:xfrm>
            <a:off x="594360" y="612720"/>
            <a:ext cx="10743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4f8ff"/>
                </a:solidFill>
                <a:latin typeface="Arial"/>
              </a:rPr>
              <a:t>Основной функционал</a:t>
            </a:r>
            <a:endParaRPr b="0" lang="ru-RU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Shape 6"/>
          <p:cNvSpPr/>
          <p:nvPr/>
        </p:nvSpPr>
        <p:spPr>
          <a:xfrm>
            <a:off x="594360" y="1298160"/>
            <a:ext cx="10972800" cy="360"/>
          </a:xfrm>
          <a:prstGeom prst="line">
            <a:avLst/>
          </a:prstGeom>
          <a:ln w="13970">
            <a:solidFill>
              <a:srgbClr val="2c55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Shape 9"/>
          <p:cNvSpPr/>
          <p:nvPr/>
        </p:nvSpPr>
        <p:spPr>
          <a:xfrm>
            <a:off x="445680" y="1800000"/>
            <a:ext cx="3154320" cy="1371240"/>
          </a:xfrm>
          <a:prstGeom prst="roundRect">
            <a:avLst>
              <a:gd name="adj" fmla="val 8000"/>
            </a:avLst>
          </a:prstGeom>
          <a:solidFill>
            <a:srgbClr val="09233b"/>
          </a:solidFill>
          <a:ln w="12700">
            <a:solidFill>
              <a:srgbClr val="315b7c">
                <a:alpha val="9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Shape 10"/>
          <p:cNvSpPr/>
          <p:nvPr/>
        </p:nvSpPr>
        <p:spPr>
          <a:xfrm>
            <a:off x="540000" y="1980000"/>
            <a:ext cx="127800" cy="950760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11"/>
          <p:cNvSpPr/>
          <p:nvPr/>
        </p:nvSpPr>
        <p:spPr>
          <a:xfrm>
            <a:off x="900000" y="1980000"/>
            <a:ext cx="24228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4f8ff"/>
                </a:solidFill>
                <a:latin typeface="Arial"/>
              </a:rPr>
              <a:t>Игровое поле</a:t>
            </a:r>
            <a:endParaRPr b="0" lang="ru-RU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12"/>
          <p:cNvSpPr/>
          <p:nvPr/>
        </p:nvSpPr>
        <p:spPr>
          <a:xfrm>
            <a:off x="900000" y="2468880"/>
            <a:ext cx="2422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3333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20" spc="-1" strike="noStrike">
                <a:solidFill>
                  <a:srgbClr val="b8c9da"/>
                </a:solidFill>
                <a:latin typeface="Arial"/>
              </a:rPr>
              <a:t>Содержит поля с «Аптечками», которые увеличивают HP.</a:t>
            </a:r>
            <a:endParaRPr b="0" lang="ru-RU" sz="12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Shape 13"/>
          <p:cNvSpPr/>
          <p:nvPr/>
        </p:nvSpPr>
        <p:spPr>
          <a:xfrm>
            <a:off x="3960000" y="1688760"/>
            <a:ext cx="3154320" cy="1371240"/>
          </a:xfrm>
          <a:prstGeom prst="roundRect">
            <a:avLst>
              <a:gd name="adj" fmla="val 8000"/>
            </a:avLst>
          </a:prstGeom>
          <a:solidFill>
            <a:srgbClr val="09233b"/>
          </a:solidFill>
          <a:ln w="12700">
            <a:solidFill>
              <a:srgbClr val="315b7c">
                <a:alpha val="9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15"/>
          <p:cNvSpPr/>
          <p:nvPr/>
        </p:nvSpPr>
        <p:spPr>
          <a:xfrm>
            <a:off x="4417200" y="1980000"/>
            <a:ext cx="24228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4f8ff"/>
                </a:solidFill>
                <a:latin typeface="Arial"/>
              </a:rPr>
              <a:t>Игроки A и B</a:t>
            </a:r>
            <a:endParaRPr b="0" lang="ru-RU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 16"/>
          <p:cNvSpPr/>
          <p:nvPr/>
        </p:nvSpPr>
        <p:spPr>
          <a:xfrm>
            <a:off x="4417200" y="2468880"/>
            <a:ext cx="2422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5000" lnSpcReduction="20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20" spc="-1" strike="noStrike">
                <a:solidFill>
                  <a:srgbClr val="b8c9da"/>
                </a:solidFill>
                <a:latin typeface="Arial"/>
              </a:rPr>
              <a:t>отображаются цветом и текущим HP, имеют возможность атаки. Активная клетка врага подсвечивается желтым.</a:t>
            </a:r>
            <a:endParaRPr b="0" lang="ru-RU" sz="12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Shape 17"/>
          <p:cNvSpPr/>
          <p:nvPr/>
        </p:nvSpPr>
        <p:spPr>
          <a:xfrm>
            <a:off x="7825680" y="1688760"/>
            <a:ext cx="3154320" cy="1371240"/>
          </a:xfrm>
          <a:prstGeom prst="roundRect">
            <a:avLst>
              <a:gd name="adj" fmla="val 8000"/>
            </a:avLst>
          </a:prstGeom>
          <a:solidFill>
            <a:srgbClr val="09233b"/>
          </a:solidFill>
          <a:ln w="12700">
            <a:solidFill>
              <a:srgbClr val="315b7c">
                <a:alpha val="9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Shape 18"/>
          <p:cNvSpPr/>
          <p:nvPr/>
        </p:nvSpPr>
        <p:spPr>
          <a:xfrm>
            <a:off x="8100000" y="1929240"/>
            <a:ext cx="127800" cy="950760"/>
          </a:xfrm>
          <a:prstGeom prst="rect">
            <a:avLst/>
          </a:prstGeom>
          <a:solidFill>
            <a:srgbClr val="dce8f2"/>
          </a:solidFill>
          <a:ln w="12700">
            <a:solidFill>
              <a:srgbClr val="dce8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19"/>
          <p:cNvSpPr/>
          <p:nvPr/>
        </p:nvSpPr>
        <p:spPr>
          <a:xfrm>
            <a:off x="8377200" y="2002680"/>
            <a:ext cx="24228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3333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4f8ff"/>
                </a:solidFill>
                <a:latin typeface="Arial"/>
              </a:rPr>
              <a:t>Использование аптечек</a:t>
            </a:r>
            <a:endParaRPr b="0" lang="ru-RU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 20"/>
          <p:cNvSpPr/>
          <p:nvPr/>
        </p:nvSpPr>
        <p:spPr>
          <a:xfrm>
            <a:off x="8377200" y="2468880"/>
            <a:ext cx="2422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6666" lnSpcReduction="10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20" spc="-1" strike="noStrike">
                <a:solidFill>
                  <a:srgbClr val="b8c9da"/>
                </a:solidFill>
                <a:latin typeface="Arial"/>
              </a:rPr>
              <a:t>подсвечиваются доступные клетки.</a:t>
            </a:r>
            <a:endParaRPr b="0" lang="ru-RU" sz="122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518040" y="3420000"/>
            <a:ext cx="2721960" cy="2928240"/>
          </a:xfrm>
          <a:prstGeom prst="rect">
            <a:avLst/>
          </a:prstGeom>
          <a:ln w="0">
            <a:noFill/>
          </a:ln>
        </p:spPr>
      </p:pic>
      <p:pic>
        <p:nvPicPr>
          <p:cNvPr id="87" name="" descr=""/>
          <p:cNvPicPr/>
          <p:nvPr/>
        </p:nvPicPr>
        <p:blipFill>
          <a:blip r:embed="rId2"/>
          <a:stretch/>
        </p:blipFill>
        <p:spPr>
          <a:xfrm>
            <a:off x="3965400" y="3420000"/>
            <a:ext cx="2694600" cy="2580480"/>
          </a:xfrm>
          <a:prstGeom prst="rect">
            <a:avLst/>
          </a:prstGeom>
          <a:ln w="0">
            <a:noFill/>
          </a:ln>
        </p:spPr>
      </p:pic>
      <p:sp>
        <p:nvSpPr>
          <p:cNvPr id="88" name="Shape 22"/>
          <p:cNvSpPr/>
          <p:nvPr/>
        </p:nvSpPr>
        <p:spPr>
          <a:xfrm>
            <a:off x="4140000" y="1980000"/>
            <a:ext cx="127800" cy="9507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9" name="" descr=""/>
          <p:cNvPicPr/>
          <p:nvPr/>
        </p:nvPicPr>
        <p:blipFill>
          <a:blip r:embed="rId3"/>
          <a:stretch/>
        </p:blipFill>
        <p:spPr>
          <a:xfrm>
            <a:off x="7380000" y="3600000"/>
            <a:ext cx="2411280" cy="2520000"/>
          </a:xfrm>
          <a:prstGeom prst="rect">
            <a:avLst/>
          </a:prstGeom>
          <a:ln w="0">
            <a:noFill/>
          </a:ln>
        </p:spPr>
      </p:pic>
      <p:pic>
        <p:nvPicPr>
          <p:cNvPr id="90" name="" descr=""/>
          <p:cNvPicPr/>
          <p:nvPr/>
        </p:nvPicPr>
        <p:blipFill>
          <a:blip r:embed="rId4"/>
          <a:stretch/>
        </p:blipFill>
        <p:spPr>
          <a:xfrm>
            <a:off x="10080000" y="3600000"/>
            <a:ext cx="2160000" cy="254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71b2f"/>
          </a:solidFill>
          <a:ln w="12700">
            <a:solidFill>
              <a:srgbClr val="071b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Shape 1"/>
          <p:cNvSpPr/>
          <p:nvPr/>
        </p:nvSpPr>
        <p:spPr>
          <a:xfrm>
            <a:off x="0" y="0"/>
            <a:ext cx="12191400" cy="145800"/>
          </a:xfrm>
          <a:prstGeom prst="rect">
            <a:avLst/>
          </a:prstGeom>
          <a:solidFill>
            <a:srgbClr val="41c9e2">
              <a:alpha val="85000"/>
            </a:srgbClr>
          </a:solidFill>
          <a:ln w="12700">
            <a:solidFill>
              <a:srgbClr val="41c9e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2"/>
          <p:cNvSpPr/>
          <p:nvPr/>
        </p:nvSpPr>
        <p:spPr>
          <a:xfrm>
            <a:off x="0" y="146160"/>
            <a:ext cx="12191400" cy="18000"/>
          </a:xfrm>
          <a:prstGeom prst="rect">
            <a:avLst/>
          </a:prstGeom>
          <a:solidFill>
            <a:srgbClr val="3de0c2">
              <a:alpha val="80000"/>
            </a:srgbClr>
          </a:solidFill>
          <a:ln w="12700">
            <a:solidFill>
              <a:srgbClr val="3de0c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3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09223a"/>
          </a:solidFill>
          <a:ln w="12700">
            <a:solidFill>
              <a:srgbClr val="0922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5"/>
          <p:cNvSpPr/>
          <p:nvPr/>
        </p:nvSpPr>
        <p:spPr>
          <a:xfrm>
            <a:off x="594360" y="612720"/>
            <a:ext cx="10743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4f8ff"/>
                </a:solidFill>
                <a:latin typeface="Arial"/>
              </a:rPr>
              <a:t>Завершение игры</a:t>
            </a:r>
            <a:endParaRPr b="0" lang="ru-RU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Shape 6"/>
          <p:cNvSpPr/>
          <p:nvPr/>
        </p:nvSpPr>
        <p:spPr>
          <a:xfrm>
            <a:off x="594360" y="1298160"/>
            <a:ext cx="10972800" cy="360"/>
          </a:xfrm>
          <a:prstGeom prst="line">
            <a:avLst/>
          </a:prstGeom>
          <a:ln w="13970">
            <a:solidFill>
              <a:srgbClr val="2c55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Shape 9"/>
          <p:cNvSpPr/>
          <p:nvPr/>
        </p:nvSpPr>
        <p:spPr>
          <a:xfrm>
            <a:off x="786240" y="1481400"/>
            <a:ext cx="4644720" cy="4690440"/>
          </a:xfrm>
          <a:prstGeom prst="roundRect">
            <a:avLst>
              <a:gd name="adj" fmla="val 2362"/>
            </a:avLst>
          </a:prstGeom>
          <a:solidFill>
            <a:srgbClr val="0a2137"/>
          </a:solidFill>
          <a:ln w="12700">
            <a:solidFill>
              <a:srgbClr val="305b7e">
                <a:alpha val="9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8" name="Image 0" descr="/mnt/data/rGCbfQi2Nd3L3sVmvBdlOZC-4ujRSOrRNTVUaWIWM23wqLe-4IWs5SblWKM3KA4vUn4-bDv81NZV79rZ (1).jpg"/>
          <p:cNvPicPr/>
          <p:nvPr/>
        </p:nvPicPr>
        <p:blipFill>
          <a:blip r:embed="rId1"/>
          <a:stretch/>
        </p:blipFill>
        <p:spPr>
          <a:xfrm>
            <a:off x="1255320" y="1517760"/>
            <a:ext cx="3707280" cy="4617360"/>
          </a:xfrm>
          <a:prstGeom prst="rect">
            <a:avLst/>
          </a:prstGeom>
          <a:ln w="0">
            <a:noFill/>
          </a:ln>
        </p:spPr>
      </p:pic>
      <p:sp>
        <p:nvSpPr>
          <p:cNvPr id="99" name="Text 10"/>
          <p:cNvSpPr/>
          <p:nvPr/>
        </p:nvSpPr>
        <p:spPr>
          <a:xfrm>
            <a:off x="822960" y="624528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70" spc="-1" strike="noStrike">
                <a:solidFill>
                  <a:srgbClr val="b8c9da"/>
                </a:solidFill>
                <a:latin typeface="Arial"/>
              </a:rPr>
              <a:t>Финал: после атаки отображается сообщение о победителе.</a:t>
            </a:r>
            <a:endParaRPr b="0" lang="ru-RU" sz="10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Shape 11"/>
          <p:cNvSpPr/>
          <p:nvPr/>
        </p:nvSpPr>
        <p:spPr>
          <a:xfrm>
            <a:off x="5989320" y="1600200"/>
            <a:ext cx="5074560" cy="4498560"/>
          </a:xfrm>
          <a:prstGeom prst="roundRect">
            <a:avLst>
              <a:gd name="adj" fmla="val 2439"/>
            </a:avLst>
          </a:prstGeom>
          <a:solidFill>
            <a:srgbClr val="09233b"/>
          </a:solidFill>
          <a:ln w="12700">
            <a:solidFill>
              <a:srgbClr val="315b7c">
                <a:alpha val="9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12"/>
          <p:cNvSpPr/>
          <p:nvPr/>
        </p:nvSpPr>
        <p:spPr>
          <a:xfrm>
            <a:off x="6309360" y="1901880"/>
            <a:ext cx="42058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4f8ff"/>
                </a:solidFill>
                <a:latin typeface="Arial"/>
              </a:rPr>
              <a:t>Проверенный сценарий</a:t>
            </a:r>
            <a:endParaRPr b="0" lang="ru-RU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Shape 13"/>
          <p:cNvSpPr/>
          <p:nvPr/>
        </p:nvSpPr>
        <p:spPr>
          <a:xfrm>
            <a:off x="6309360" y="2697480"/>
            <a:ext cx="100080" cy="10008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14"/>
          <p:cNvSpPr/>
          <p:nvPr/>
        </p:nvSpPr>
        <p:spPr>
          <a:xfrm>
            <a:off x="6510600" y="260604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f4f8ff"/>
                </a:solidFill>
                <a:latin typeface="Arial"/>
              </a:rPr>
              <a:t>Игрок A находится в зоне атаки игрока B.</a:t>
            </a:r>
            <a:endParaRPr b="0" lang="ru-RU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Shape 15"/>
          <p:cNvSpPr/>
          <p:nvPr/>
        </p:nvSpPr>
        <p:spPr>
          <a:xfrm>
            <a:off x="6309360" y="3200400"/>
            <a:ext cx="100080" cy="10008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16"/>
          <p:cNvSpPr/>
          <p:nvPr/>
        </p:nvSpPr>
        <p:spPr>
          <a:xfrm>
            <a:off x="6510600" y="310896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f4f8ff"/>
                </a:solidFill>
                <a:latin typeface="Arial"/>
              </a:rPr>
              <a:t>При клике по противнику HP уменьшается.</a:t>
            </a:r>
            <a:endParaRPr b="0" lang="ru-RU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Shape 17"/>
          <p:cNvSpPr/>
          <p:nvPr/>
        </p:nvSpPr>
        <p:spPr>
          <a:xfrm>
            <a:off x="6309360" y="3703320"/>
            <a:ext cx="100080" cy="100080"/>
          </a:xfrm>
          <a:prstGeom prst="ellipse">
            <a:avLst/>
          </a:prstGeom>
          <a:solidFill>
            <a:srgbClr val="3de0c2"/>
          </a:solidFill>
          <a:ln w="12700">
            <a:solidFill>
              <a:srgbClr val="3de0c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18"/>
          <p:cNvSpPr/>
          <p:nvPr/>
        </p:nvSpPr>
        <p:spPr>
          <a:xfrm>
            <a:off x="6510600" y="361188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5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f4f8ff"/>
                </a:solidFill>
                <a:latin typeface="Arial"/>
              </a:rPr>
              <a:t>После снижения HP до критического значения выводится сообщение.</a:t>
            </a:r>
            <a:endParaRPr b="0" lang="ru-RU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Shape 19"/>
          <p:cNvSpPr/>
          <p:nvPr/>
        </p:nvSpPr>
        <p:spPr>
          <a:xfrm>
            <a:off x="6309360" y="4206240"/>
            <a:ext cx="100080" cy="100080"/>
          </a:xfrm>
          <a:prstGeom prst="ellipse">
            <a:avLst/>
          </a:prstGeom>
          <a:solidFill>
            <a:srgbClr val="5b8cff"/>
          </a:solidFill>
          <a:ln w="12700">
            <a:solidFill>
              <a:srgbClr val="5b8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20"/>
          <p:cNvSpPr/>
          <p:nvPr/>
        </p:nvSpPr>
        <p:spPr>
          <a:xfrm>
            <a:off x="6510600" y="411480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7222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f4f8ff"/>
                </a:solidFill>
                <a:latin typeface="Arial"/>
              </a:rPr>
              <a:t>Окно сообщения подтверждает окончание партии.</a:t>
            </a:r>
            <a:endParaRPr b="0" lang="ru-RU" sz="14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26"/>
          <p:cNvSpPr/>
          <p:nvPr/>
        </p:nvSpPr>
        <p:spPr>
          <a:xfrm>
            <a:off x="0" y="0"/>
            <a:ext cx="12191400" cy="145800"/>
          </a:xfrm>
          <a:prstGeom prst="rect">
            <a:avLst/>
          </a:prstGeom>
          <a:solidFill>
            <a:srgbClr val="41c9e2">
              <a:alpha val="85000"/>
            </a:srgbClr>
          </a:solidFill>
          <a:ln w="12700">
            <a:solidFill>
              <a:srgbClr val="41c9e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28"/>
          <p:cNvSpPr/>
          <p:nvPr/>
        </p:nvSpPr>
        <p:spPr>
          <a:xfrm>
            <a:off x="0" y="146160"/>
            <a:ext cx="12191400" cy="18000"/>
          </a:xfrm>
          <a:prstGeom prst="rect">
            <a:avLst/>
          </a:prstGeom>
          <a:solidFill>
            <a:srgbClr val="3de0c2">
              <a:alpha val="80000"/>
            </a:srgbClr>
          </a:solidFill>
          <a:ln w="12700">
            <a:solidFill>
              <a:srgbClr val="3de0c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29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09223a"/>
          </a:solidFill>
          <a:ln w="12700">
            <a:solidFill>
              <a:srgbClr val="0922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22"/>
          <p:cNvSpPr/>
          <p:nvPr/>
        </p:nvSpPr>
        <p:spPr>
          <a:xfrm>
            <a:off x="594360" y="612720"/>
            <a:ext cx="10743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4f8ff"/>
                </a:solidFill>
                <a:latin typeface="Arial"/>
              </a:rPr>
              <a:t>Заключение</a:t>
            </a:r>
            <a:endParaRPr b="0" lang="ru-RU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Shape 30"/>
          <p:cNvSpPr/>
          <p:nvPr/>
        </p:nvSpPr>
        <p:spPr>
          <a:xfrm>
            <a:off x="594360" y="1298160"/>
            <a:ext cx="10972800" cy="360"/>
          </a:xfrm>
          <a:prstGeom prst="line">
            <a:avLst/>
          </a:prstGeom>
          <a:ln w="13970">
            <a:solidFill>
              <a:srgbClr val="2c55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Shape 31"/>
          <p:cNvSpPr/>
          <p:nvPr/>
        </p:nvSpPr>
        <p:spPr>
          <a:xfrm>
            <a:off x="786240" y="1481400"/>
            <a:ext cx="4644720" cy="4690440"/>
          </a:xfrm>
          <a:prstGeom prst="roundRect">
            <a:avLst>
              <a:gd name="adj" fmla="val 2362"/>
            </a:avLst>
          </a:prstGeom>
          <a:solidFill>
            <a:srgbClr val="0a2137"/>
          </a:solidFill>
          <a:ln w="12700">
            <a:solidFill>
              <a:srgbClr val="305b7e">
                <a:alpha val="9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 24"/>
          <p:cNvSpPr/>
          <p:nvPr/>
        </p:nvSpPr>
        <p:spPr>
          <a:xfrm>
            <a:off x="1014120" y="2749320"/>
            <a:ext cx="42058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2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2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4f8ff"/>
                </a:solidFill>
                <a:latin typeface="Arial"/>
              </a:rPr>
              <a:t>Был успешно разработан интерфейс игры, простой функционал. Произведено тестирование игры, а также проект был опубликован на open source площадке «git-hub».</a:t>
            </a:r>
            <a:endParaRPr b="0" lang="ru-RU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LibreOffice/24.2.3.2$Linux_X86_64 LibreOffice_project/420$Build-2</Application>
  <AppVersion>15.0000</AppVersion>
  <Words>1038</Words>
  <Paragraphs>193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2026-05-06T16:44:15Z</dcterms:created>
  <dc:creator>Команда проекта</dc:creator>
  <dc:description/>
  <dc:language>ru-RU</dc:language>
  <cp:lastModifiedBy/>
  <dcterms:modified xsi:type="dcterms:W3CDTF">2026-05-14T14:34:58Z</dcterms:modified>
  <cp:revision>4</cp:revision>
  <dc:subject>Тестирование игры Anti-Lego Arena</dc:subject>
  <dc:title>Anti-Lego Arena — тестирование и показ функционала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Широкоэкранный</vt:lpwstr>
  </property>
  <property fmtid="{D5CDD505-2E9C-101B-9397-08002B2CF9AE}" pid="4" name="Slides">
    <vt:i4>9</vt:i4>
  </property>
</Properties>
</file>